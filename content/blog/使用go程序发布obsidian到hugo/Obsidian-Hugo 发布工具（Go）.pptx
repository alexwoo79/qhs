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&#20351;&#29992;Obsidian&#21457;&#24067;Hugo_2/Pasted%20image%2020260202202136.png" TargetMode="External" /><Relationship Id="rId3" Type="http://schemas.openxmlformats.org/officeDocument/2006/relationships/hyperlink" Target="../&#20351;&#29992;Obsidian&#21457;&#24067;Hugo_2/&#20351;&#29992;Obsidian&#21457;&#24067;Hugo.md" TargetMode="Externa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Obsidian-Hugo%20&#21457;&#24067;&#24037;&#20855;&#65288;Go&#65289;.md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#blog #go #hugo</a:t>
            </a:r>
          </a:p>
          <a:p>
            <a:pPr lvl="0" indent="0" marL="0">
              <a:buNone/>
            </a:pPr>
            <a:r>
              <a:rPr/>
              <a:t>这是一个 </a:t>
            </a:r>
            <a:r>
              <a:rPr b="1"/>
              <a:t>以 Obsidian 为唯一内容源</a:t>
            </a:r>
            <a:r>
              <a:rPr/>
              <a:t> 的 Hugo 发布工具，使用 Go 编写。</a:t>
            </a:r>
          </a:p>
          <a:p>
            <a:pPr lvl="0" indent="0" marL="0">
              <a:buNone/>
            </a:pPr>
            <a:r>
              <a:rPr/>
              <a:t>它的目标不是“同步文件”，而是：</a:t>
            </a:r>
          </a:p>
          <a:p>
            <a:pPr lvl="0" indent="0" marL="1270000">
              <a:buNone/>
            </a:pPr>
            <a:r>
              <a:rPr sz="2000" b="1"/>
              <a:t>基于规则判断 → 生成 Hugo Page Bundle → 安全发布</a:t>
            </a:r>
          </a:p>
          <a:p>
            <a:pPr lvl="0" indent="0" marL="0">
              <a:buNone/>
            </a:pPr>
            <a:r>
              <a:rPr/>
              <a:t>无需依赖 Obsidian 插件，不污染原始笔记，适合长期写作、博客与技术文档工作流。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Pasted image 20260202202136</a:t>
            </a:r>
          </a:p>
          <a:p>
            <a:pPr lvl="0" indent="0" marL="0">
              <a:buNone/>
            </a:pPr>
            <a:r>
              <a:rPr>
                <a:hlinkClick r:id="rId3"/>
              </a:rPr>
              <a:t>使用Obsidian发布Hugo</a:t>
            </a:r>
            <a:r>
              <a:rPr/>
              <a:t> ## ✨ 核心特性</a:t>
            </a:r>
          </a:p>
          <a:p>
            <a:pPr lvl="0"/>
            <a:r>
              <a:rPr/>
              <a:t>🧠 </a:t>
            </a:r>
            <a:r>
              <a:rPr b="1"/>
              <a:t>单一内容源</a:t>
            </a:r>
            <a:r>
              <a:rPr/>
              <a:t>：所有内容仅在 Obsidian 中维护</a:t>
            </a:r>
          </a:p>
          <a:p>
            <a:pPr lvl="0"/>
            <a:r>
              <a:rPr/>
              <a:t>📦 </a:t>
            </a:r>
            <a:r>
              <a:rPr b="1"/>
              <a:t>Hugo Page Bundle 原生支持</a:t>
            </a:r>
            <a:r>
              <a:rPr/>
              <a:t>（</a:t>
            </a:r>
            <a:r>
              <a:rPr>
                <a:latin typeface="Courier"/>
              </a:rPr>
              <a:t>index.md</a:t>
            </a:r>
            <a:r>
              <a:rPr/>
              <a:t> + 附件）</a:t>
            </a:r>
          </a:p>
          <a:p>
            <a:pPr lvl="0"/>
            <a:r>
              <a:rPr/>
              <a:t>🏷 </a:t>
            </a:r>
            <a:r>
              <a:rPr b="1"/>
              <a:t>基于 tag 的发布规则</a:t>
            </a:r>
            <a:r>
              <a:rPr/>
              <a:t>（必须包含 </a:t>
            </a:r>
            <a:r>
              <a:rPr>
                <a:latin typeface="Courier"/>
              </a:rPr>
              <a:t>blog</a:t>
            </a:r>
            <a:r>
              <a:rPr/>
              <a:t>）</a:t>
            </a:r>
          </a:p>
          <a:p>
            <a:pPr lvl="0"/>
            <a:r>
              <a:rPr/>
              <a:t>🔍 </a:t>
            </a:r>
            <a:r>
              <a:rPr b="1"/>
              <a:t>hash 级内容判断</a:t>
            </a:r>
            <a:r>
              <a:rPr/>
              <a:t>：未变化内容自动跳过</a:t>
            </a:r>
          </a:p>
          <a:p>
            <a:pPr lvl="0"/>
            <a:r>
              <a:rPr/>
              <a:t>🧪 </a:t>
            </a:r>
            <a:r>
              <a:rPr b="1">
                <a:latin typeface="Courier"/>
              </a:rPr>
              <a:t>--dry-run</a:t>
            </a:r>
            <a:r>
              <a:rPr b="1"/>
              <a:t> 预演模式</a:t>
            </a:r>
            <a:r>
              <a:rPr/>
              <a:t>：只提示，不写文件</a:t>
            </a:r>
          </a:p>
          <a:p>
            <a:pPr lvl="0"/>
            <a:r>
              <a:rPr/>
              <a:t>♻️ </a:t>
            </a:r>
            <a:r>
              <a:rPr b="1"/>
              <a:t>安全覆盖机制</a:t>
            </a:r>
            <a:r>
              <a:rPr/>
              <a:t>：已存在内容提示是否更新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📁 一、Obsidian 目录与写作规范（非常重要）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1️⃣ 每一篇 Blog 必须是一个独立文件夹</a:t>
            </a:r>
          </a:p>
          <a:p>
            <a:pPr lvl="0" indent="0">
              <a:buNone/>
            </a:pPr>
            <a:r>
              <a:rPr>
                <a:latin typeface="Courier"/>
              </a:rPr>
              <a:t>
ObsidianVault/
└── My First Blog/
├── My First Blog.md
├── image1.png
├── diagram.svg
</a:t>
            </a:r>
          </a:p>
          <a:p>
            <a:pPr lvl="0"/>
            <a:r>
              <a:rPr b="1"/>
              <a:t>文件夹 = 一篇文章（未来的 Hugo Page Bundle）</a:t>
            </a:r>
          </a:p>
          <a:p>
            <a:pPr lvl="0"/>
            <a:r>
              <a:rPr/>
              <a:t>md 文件名可随意，但通常与文件夹名一致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2️⃣ 附件必须与 md 文件放在同一目录</a:t>
            </a:r>
          </a:p>
          <a:p>
            <a:pPr lvl="0"/>
            <a:r>
              <a:rPr/>
              <a:t>图片 / PDF / SVG 等附件</a:t>
            </a:r>
          </a:p>
          <a:p>
            <a:pPr lvl="0"/>
            <a:r>
              <a:rPr/>
              <a:t>不使用 Obsidian 的全局附件目录</a:t>
            </a:r>
          </a:p>
          <a:p>
            <a:pPr lvl="0" indent="0" marL="0">
              <a:buNone/>
            </a:pPr>
            <a:r>
              <a:rPr/>
              <a:t>这样才能：</a:t>
            </a:r>
          </a:p>
          <a:p>
            <a:pPr lvl="0"/>
            <a:r>
              <a:rPr/>
              <a:t>直接 copy 到 Hugo Page Bundle</a:t>
            </a:r>
          </a:p>
          <a:p>
            <a:pPr lvl="0"/>
            <a:r>
              <a:rPr/>
              <a:t>保证图片链接不失效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3️⃣ Obsidian 附件链接方式（必须修改）</a:t>
            </a:r>
          </a:p>
          <a:p>
            <a:pPr lvl="0" indent="0" marL="0">
              <a:buNone/>
            </a:pPr>
            <a:r>
              <a:rPr/>
              <a:t>请在 Obsidian 设置中调整：</a:t>
            </a:r>
          </a:p>
          <a:p>
            <a:pPr lvl="0" indent="0">
              <a:buNone/>
            </a:pPr>
            <a:r>
              <a:rPr>
                <a:latin typeface="Courier"/>
              </a:rPr>
              <a:t>
Settings → Files &amp; Links → New link format
</a:t>
            </a:r>
          </a:p>
          <a:p>
            <a:pPr lvl="0" indent="0" marL="0">
              <a:buNone/>
            </a:pPr>
            <a:r>
              <a:rPr/>
              <a:t>选择：</a:t>
            </a:r>
          </a:p>
          <a:p>
            <a:pPr lvl="0" indent="0" marL="1270000">
              <a:buNone/>
            </a:pPr>
            <a:r>
              <a:rPr sz="2000"/>
              <a:t>✅ </a:t>
            </a:r>
            <a:r>
              <a:rPr sz="2000" b="1"/>
              <a:t>Markdown</a:t>
            </a:r>
          </a:p>
          <a:p>
            <a:pPr lvl="0" indent="0" marL="0">
              <a:buNone/>
            </a:pPr>
            <a:r>
              <a:rPr/>
              <a:t>即生成：</a:t>
            </a:r>
          </a:p>
          <a:p>
            <a:pPr lvl="0" indent="0">
              <a:buNone/>
            </a:pPr>
            <a:br/>
            <a:r>
              <a:rPr b="1">
                <a:solidFill>
                  <a:srgbClr val="FF0000"/>
                </a:solidFill>
                <a:latin typeface="Courier"/>
              </a:rPr>
              <a:t>![](image1.png)</a:t>
            </a:r>
          </a:p>
          <a:p>
            <a:pPr lvl="0" indent="0" marL="0">
              <a:buNone/>
            </a:pPr>
            <a:r>
              <a:rPr/>
              <a:t>❌ 不要使用 </a:t>
            </a:r>
            <a:r>
              <a:rPr>
                <a:latin typeface="Courier"/>
              </a:rPr>
              <a:t>![[image1.png]]</a:t>
            </a:r>
            <a:r>
              <a:rPr/>
              <a:t>（Wiki 链接）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4️⃣ 必须具备 </a:t>
            </a:r>
            <a:r>
              <a:rPr b="1">
                <a:latin typeface="Courier"/>
              </a:rPr>
              <a:t>blog</a:t>
            </a:r>
            <a:r>
              <a:rPr b="1"/>
              <a:t> 标签才会被发布</a:t>
            </a:r>
          </a:p>
          <a:p>
            <a:pPr lvl="0" indent="0" marL="0">
              <a:buNone/>
            </a:pPr>
            <a:r>
              <a:rPr/>
              <a:t>以下任一方式即可：</a:t>
            </a:r>
          </a:p>
          <a:p>
            <a:pPr lvl="0" indent="0">
              <a:buNone/>
            </a:pPr>
            <a:br/>
            <a:r>
              <a:rPr>
                <a:latin typeface="Courier"/>
              </a:rPr>
              <a:t>#blog</a:t>
            </a:r>
          </a:p>
          <a:p>
            <a:pPr lvl="0" indent="0" marL="0">
              <a:buNone/>
            </a:pPr>
            <a:r>
              <a:rPr/>
              <a:t>或：</a:t>
            </a:r>
          </a:p>
          <a:p>
            <a:pPr lvl="0" indent="0">
              <a:buNone/>
            </a:pPr>
            <a:br/>
            <a:r>
              <a:rPr>
                <a:solidFill>
                  <a:srgbClr val="06287E"/>
                </a:solidFill>
                <a:latin typeface="Courier"/>
              </a:rPr>
              <a:t>tags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blog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golang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hugo</a:t>
            </a:r>
          </a:p>
          <a:p>
            <a:pPr lvl="0" indent="0" marL="0">
              <a:buNone/>
            </a:pPr>
            <a:r>
              <a:rPr/>
              <a:t>发布规则：</a:t>
            </a:r>
          </a:p>
          <a:p>
            <a:pPr lvl="0"/>
            <a:r>
              <a:rPr/>
              <a:t>❌ 没有 </a:t>
            </a:r>
            <a:r>
              <a:rPr>
                <a:latin typeface="Courier"/>
              </a:rPr>
              <a:t>blog</a:t>
            </a:r>
            <a:r>
              <a:rPr/>
              <a:t> → 不会进入 Hugo</a:t>
            </a:r>
          </a:p>
          <a:p>
            <a:pPr lvl="0"/>
            <a:r>
              <a:rPr/>
              <a:t>✅ 有 </a:t>
            </a:r>
            <a:r>
              <a:rPr>
                <a:latin typeface="Courier"/>
              </a:rPr>
              <a:t>blog</a:t>
            </a:r>
            <a:r>
              <a:rPr/>
              <a:t> → 发布</a:t>
            </a:r>
          </a:p>
          <a:p>
            <a:pPr lvl="0"/>
            <a:r>
              <a:rPr/>
              <a:t>✅ 其他 tags 会 </a:t>
            </a:r>
            <a:r>
              <a:rPr b="1"/>
              <a:t>完整映射到 Hugo front matter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🏗 二、Hugo 侧要求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使用 </a:t>
            </a:r>
            <a:r>
              <a:rPr b="1"/>
              <a:t>Page Bundle</a:t>
            </a:r>
            <a:r>
              <a:rPr/>
              <a:t> 结构</a:t>
            </a:r>
          </a:p>
          <a:p>
            <a:pPr lvl="0" indent="0">
              <a:buNone/>
            </a:pPr>
            <a:r>
              <a:rPr>
                <a:latin typeface="Courier"/>
              </a:rPr>
              <a:t>
content/blog/my-first-blog/
├── index.md
├── image1.png
└── diagram.svg
</a:t>
            </a:r>
          </a:p>
          <a:p>
            <a:pPr lvl="0"/>
            <a:r>
              <a:rPr/>
              <a:t>本工具会：</a:t>
            </a:r>
          </a:p>
          <a:p>
            <a:pPr lvl="0"/>
            <a:r>
              <a:rPr/>
              <a:t>自动将 md → </a:t>
            </a:r>
            <a:r>
              <a:rPr>
                <a:latin typeface="Courier"/>
              </a:rPr>
              <a:t>index.md</a:t>
            </a:r>
          </a:p>
          <a:p>
            <a:pPr lvl="0"/>
            <a:r>
              <a:rPr/>
              <a:t>自动补齐 Hugo front matter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🧩 三、Go 程序结构说明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.
├── main.go # 程序入口，参数解析
├── config.go # config.json 读取
├── scan.go # 扫描 Obsidian 中可发布的 blog
├── publish.go # 发布决策（存在 / 覆盖 / dry-run）
├── hash.go # 目录级 hash 计算
├── publish_md.go # 实际生成 Hugo Page Bundle
├── config.json # 路径配置
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🔁 发布流程（非常关键）</a:t>
            </a:r>
          </a:p>
          <a:p>
            <a:pPr lvl="0" indent="0">
              <a:buNone/>
            </a:pPr>
            <a:r>
              <a:rPr>
                <a:latin typeface="Courier"/>
              </a:rPr>
              <a:t>
Scan Obsidian
↓
检查是否包含 blog tag
↓
计算 Obsidian 目录 hash
↓
检查 Hugo 是否已存在 bundle
↓
┌───────────────┐
│ 内容未变化 │ → 跳过
├───────────────┤
│ 内容变化 │ → 提示是否覆盖
├───────────────┤
│ 不存在 │ → 发布
└───────────────┘
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🧪 四、使用方式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1️⃣ 普通发布（安全模式）</a:t>
            </a:r>
          </a:p>
          <a:p>
            <a:pPr lvl="0" indent="0">
              <a:buNone/>
            </a:pPr>
            <a:br/>
            <a:r>
              <a:rPr>
                <a:latin typeface="Courier"/>
              </a:rPr>
              <a:t>go run .</a:t>
            </a:r>
          </a:p>
          <a:p>
            <a:pPr lvl="0"/>
            <a:r>
              <a:rPr/>
              <a:t>已存在内容会询问是否覆盖</a:t>
            </a:r>
          </a:p>
          <a:p>
            <a:pPr lvl="0"/>
            <a:r>
              <a:rPr/>
              <a:t>未变化内容自动跳过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2️⃣ dry-run（强烈推荐）</a:t>
            </a:r>
          </a:p>
          <a:p>
            <a:pPr lvl="0" indent="0">
              <a:buNone/>
            </a:pPr>
            <a:br/>
            <a:r>
              <a:rPr>
                <a:latin typeface="Courier"/>
              </a:rPr>
              <a:t>go run . </a:t>
            </a:r>
            <a:r>
              <a:rPr>
                <a:solidFill>
                  <a:srgbClr val="7D9029"/>
                </a:solidFill>
                <a:latin typeface="Courier"/>
              </a:rPr>
              <a:t>--dry-run</a:t>
            </a:r>
          </a:p>
          <a:p>
            <a:pPr lvl="0" indent="0" marL="0">
              <a:buNone/>
            </a:pPr>
            <a:r>
              <a:rPr/>
              <a:t>输出示例：</a:t>
            </a:r>
          </a:p>
          <a:p>
            <a:pPr lvl="0" indent="0">
              <a:buNone/>
            </a:pPr>
            <a:r>
              <a:rPr>
                <a:latin typeface="Courier"/>
              </a:rPr>
              <a:t>
🆕 will publish: my-first-blog
⏭ unchanged: golang-notes
♻️ will overwrite: hugo-workflow
</a:t>
            </a:r>
          </a:p>
          <a:p>
            <a:pPr lvl="0" indent="0" marL="1270000">
              <a:buNone/>
            </a:pPr>
            <a:r>
              <a:rPr sz="2000"/>
              <a:t>⚠️ 不会写入任何文件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3️⃣ 强制更新（CI / 批量发布）</a:t>
            </a:r>
          </a:p>
          <a:p>
            <a:pPr lvl="0" indent="0">
              <a:buNone/>
            </a:pPr>
            <a:br/>
            <a:r>
              <a:rPr>
                <a:latin typeface="Courier"/>
              </a:rPr>
              <a:t>go run . </a:t>
            </a:r>
            <a:r>
              <a:rPr>
                <a:solidFill>
                  <a:srgbClr val="7D9029"/>
                </a:solidFill>
                <a:latin typeface="Courier"/>
              </a:rPr>
              <a:t>--update</a:t>
            </a:r>
          </a:p>
          <a:p>
            <a:pPr lvl="0"/>
            <a:r>
              <a:rPr/>
              <a:t>不询问</a:t>
            </a:r>
          </a:p>
          <a:p>
            <a:pPr lvl="0"/>
            <a:r>
              <a:rPr/>
              <a:t>直接覆盖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🧠 五、自动生成的 Hugo Front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如果 Obsidian md 中没有定义，工具会自动补全：</a:t>
            </a:r>
          </a:p>
          <a:p>
            <a:pPr lvl="0" indent="0">
              <a:buNone/>
            </a:pPr>
            <a:br/>
            <a:r>
              <a:rPr>
                <a:solidFill>
                  <a:srgbClr val="BC7A00"/>
                </a:solidFill>
                <a:latin typeface="Courier"/>
              </a:rPr>
              <a:t>---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title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My First Blog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date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2026-02-02T10:30:00+09:00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draft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false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tags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blog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golang</a:t>
            </a:r>
            <a:br/>
            <a:br/>
            <a:r>
              <a:rPr>
                <a:solidFill>
                  <a:srgbClr val="BC7A00"/>
                </a:solidFill>
                <a:latin typeface="Courier"/>
              </a:rPr>
              <a:t>---</a:t>
            </a:r>
          </a:p>
          <a:p>
            <a:pPr lvl="0" indent="0" marL="0">
              <a:buNone/>
            </a:pPr>
            <a:r>
              <a:rPr/>
              <a:t>已有字段 </a:t>
            </a:r>
            <a:r>
              <a:rPr b="1"/>
              <a:t>不会被覆盖</a:t>
            </a:r>
            <a:r>
              <a:rPr/>
              <a:t>。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🚀 六、适合谁使用？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✍️ 使用 Obsidian 写博客的人</a:t>
            </a:r>
          </a:p>
          <a:p>
            <a:pPr lvl="0"/>
            <a:r>
              <a:rPr/>
              <a:t>🧠 希望 Hugo 内容完全可控的人</a:t>
            </a:r>
          </a:p>
          <a:p>
            <a:pPr lvl="0"/>
            <a:r>
              <a:rPr/>
              <a:t>📚 技术文档 / 长期写作</a:t>
            </a:r>
          </a:p>
          <a:p>
            <a:pPr lvl="0"/>
            <a:r>
              <a:rPr/>
              <a:t>🧩 Quarto / Pandoc / 多格式发布体系的前置工具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🏁 设计哲学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Obsidian 负责写作</a:t>
            </a:r>
          </a:p>
          <a:p>
            <a:pPr lvl="0" indent="0" marL="1270000">
              <a:buNone/>
            </a:pPr>
            <a:r>
              <a:rPr sz="2000" b="1"/>
              <a:t>Go 工具负责决策与发布</a:t>
            </a:r>
          </a:p>
          <a:p>
            <a:pPr lvl="0" indent="0" marL="1270000">
              <a:buNone/>
            </a:pPr>
            <a:r>
              <a:rPr sz="2000" b="1"/>
              <a:t>Hugo 只接收“干净内容”</a:t>
            </a:r>
          </a:p>
          <a:p>
            <a:pPr lvl="0" indent="0" marL="0">
              <a:buNone/>
            </a:pPr>
            <a:r>
              <a:rPr/>
              <a:t>这个项目已经完全具备：</a:t>
            </a:r>
          </a:p>
          <a:p>
            <a:pPr lvl="0"/>
            <a:r>
              <a:rPr/>
              <a:t>开源发布</a:t>
            </a:r>
          </a:p>
          <a:p>
            <a:pPr lvl="0"/>
            <a:r>
              <a:rPr/>
              <a:t>团队写作</a:t>
            </a:r>
          </a:p>
          <a:p>
            <a:pPr lvl="0"/>
            <a:r>
              <a:rPr/>
              <a:t>CI 自动发布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Obsidian-Hugo 发布工具（Go）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2026-02-03T01:39:51Z</dcterms:created>
  <dcterms:modified xsi:type="dcterms:W3CDTF">2026-02-03T01:39:51Z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